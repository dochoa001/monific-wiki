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4f7bc4c8a14614" /><Relationship Type="http://schemas.openxmlformats.org/officeDocument/2006/relationships/extended-properties" Target="/docProps/app.xml" Id="R0469aac997604910" /><Relationship Type="http://schemas.openxmlformats.org/officeDocument/2006/relationships/officeDocument" Target="/ppt/presentation.xml" Id="Rf484c6ef12fc40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1fade8e93f4c6a"/>
  </p:sldMasterIdLst>
  <p:notesMasterIdLst>
    <p:notesMasterId xmlns:r="http://schemas.openxmlformats.org/officeDocument/2006/relationships" r:id="R91747c05c0a74eec"/>
  </p:notesMasterIdLst>
  <p:sldIdLst>
    <p:sldId xmlns:r="http://schemas.openxmlformats.org/officeDocument/2006/relationships" id="256" r:id="Rfcd7934867e64fc7"/>
    <p:sldId xmlns:r="http://schemas.openxmlformats.org/officeDocument/2006/relationships" id="257" r:id="Rb2dfcbafcb6c43b1"/>
    <p:sldId xmlns:r="http://schemas.openxmlformats.org/officeDocument/2006/relationships" id="258" r:id="R4572675d40554b1b"/>
    <p:sldId xmlns:r="http://schemas.openxmlformats.org/officeDocument/2006/relationships" id="259" r:id="Ra2e88d5913d14343"/>
    <p:sldId xmlns:r="http://schemas.openxmlformats.org/officeDocument/2006/relationships" id="260" r:id="R403e156007144a5f"/>
    <p:sldId xmlns:r="http://schemas.openxmlformats.org/officeDocument/2006/relationships" id="261" r:id="R3404a04b7b65484f"/>
    <p:sldId xmlns:r="http://schemas.openxmlformats.org/officeDocument/2006/relationships" id="262" r:id="R362d1d33a3cc4f9b"/>
    <p:sldId xmlns:r="http://schemas.openxmlformats.org/officeDocument/2006/relationships" id="263" r:id="R4de97c52f4ed4bc0"/>
    <p:sldId xmlns:r="http://schemas.openxmlformats.org/officeDocument/2006/relationships" id="264" r:id="Re0a8eb668b8c44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22b60253854a94" /><Relationship Type="http://schemas.openxmlformats.org/officeDocument/2006/relationships/slideMaster" Target="/ppt/slideMasters/slideMaster1.xml" Id="Rb01fade8e93f4c6a" /><Relationship Type="http://schemas.openxmlformats.org/officeDocument/2006/relationships/notesMaster" Target="/ppt/notesMasters/notesMaster1.xml" Id="R91747c05c0a74eec" /><Relationship Type="http://schemas.openxmlformats.org/officeDocument/2006/relationships/presProps" Target="/ppt/presProps.xml" Id="Re77163f6cc574a3e" /><Relationship Type="http://schemas.openxmlformats.org/officeDocument/2006/relationships/tableStyles" Target="/ppt/tableStyles.xml" Id="R0c9fe928e7504d40" /><Relationship Type="http://schemas.openxmlformats.org/officeDocument/2006/relationships/slide" Target="/ppt/slides/slide1.xml" Id="Rfcd7934867e64fc7" /><Relationship Type="http://schemas.openxmlformats.org/officeDocument/2006/relationships/slide" Target="/ppt/slides/slide2.xml" Id="Rb2dfcbafcb6c43b1" /><Relationship Type="http://schemas.openxmlformats.org/officeDocument/2006/relationships/slide" Target="/ppt/slides/slide3.xml" Id="R4572675d40554b1b" /><Relationship Type="http://schemas.openxmlformats.org/officeDocument/2006/relationships/slide" Target="/ppt/slides/slide4.xml" Id="Ra2e88d5913d14343" /><Relationship Type="http://schemas.openxmlformats.org/officeDocument/2006/relationships/slide" Target="/ppt/slides/slide5.xml" Id="R403e156007144a5f" /><Relationship Type="http://schemas.openxmlformats.org/officeDocument/2006/relationships/slide" Target="/ppt/slides/slide6.xml" Id="R3404a04b7b65484f" /><Relationship Type="http://schemas.openxmlformats.org/officeDocument/2006/relationships/slide" Target="/ppt/slides/slide7.xml" Id="R362d1d33a3cc4f9b" /><Relationship Type="http://schemas.openxmlformats.org/officeDocument/2006/relationships/slide" Target="/ppt/slides/slide8.xml" Id="R4de97c52f4ed4bc0" /><Relationship Type="http://schemas.openxmlformats.org/officeDocument/2006/relationships/slide" Target="/ppt/slides/slide9.xml" Id="Re0a8eb668b8c44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02fc5499984a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db7673b9834852" /><Relationship Type="http://schemas.openxmlformats.org/officeDocument/2006/relationships/notesMaster" Target="/ppt/notesMasters/notesMaster1.xml" Id="R12464b6581b64d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3114391ad845c6" /><Relationship Type="http://schemas.openxmlformats.org/officeDocument/2006/relationships/notesMaster" Target="/ppt/notesMasters/notesMaster1.xml" Id="R491fd8960bf44e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60ab1a4b1d4b09" /><Relationship Type="http://schemas.openxmlformats.org/officeDocument/2006/relationships/notesMaster" Target="/ppt/notesMasters/notesMaster1.xml" Id="R7b6cec6b3e1f40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e75e000f284df6" /><Relationship Type="http://schemas.openxmlformats.org/officeDocument/2006/relationships/notesMaster" Target="/ppt/notesMasters/notesMaster1.xml" Id="R779333f4676f4d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8d348a997d4a77" /><Relationship Type="http://schemas.openxmlformats.org/officeDocument/2006/relationships/notesMaster" Target="/ppt/notesMasters/notesMaster1.xml" Id="R4d87422744ab4c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0c0f0bd5d440c4" /><Relationship Type="http://schemas.openxmlformats.org/officeDocument/2006/relationships/notesMaster" Target="/ppt/notesMasters/notesMaster1.xml" Id="R3fe6c7678f7a48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58ceb19bd443d7" /><Relationship Type="http://schemas.openxmlformats.org/officeDocument/2006/relationships/notesMaster" Target="/ppt/notesMasters/notesMaster1.xml" Id="R1c34505a30f345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1977e8825d434c" /><Relationship Type="http://schemas.openxmlformats.org/officeDocument/2006/relationships/notesMaster" Target="/ppt/notesMasters/notesMaster1.xml" Id="Rac5f1acf86b14a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888d91b0df4139" /><Relationship Type="http://schemas.openxmlformats.org/officeDocument/2006/relationships/notesMaster" Target="/ppt/notesMasters/notesMaster1.xml" Id="R4a64507135244c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011a1664d45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cdf6f794b04bea" /><Relationship Type="http://schemas.openxmlformats.org/officeDocument/2006/relationships/slideLayout" Target="/ppt/slideLayouts/slideLayout1.xml" Id="Ra4f35dd3703e4e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f35dd3703e4e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bafe03ff04e04" /><Relationship Type="http://schemas.openxmlformats.org/officeDocument/2006/relationships/image" Target="/ppt/media/image.png" Id="Re5b05a477ff1497d" /><Relationship Type="http://schemas.openxmlformats.org/officeDocument/2006/relationships/image" Target="/ppt/media/image2.png" Id="R111345a510b14d28" /><Relationship Type="http://schemas.openxmlformats.org/officeDocument/2006/relationships/notesSlide" Target="/ppt/notesSlides/notesSlide1.xml" Id="Rc15b39ed11b441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30ddfdca24597" /><Relationship Type="http://schemas.openxmlformats.org/officeDocument/2006/relationships/image" Target="/ppt/media/image3.png" Id="Rdc65aecee8274eec" /><Relationship Type="http://schemas.openxmlformats.org/officeDocument/2006/relationships/notesSlide" Target="/ppt/notesSlides/notesSlide2.xml" Id="R9aef4ddd0b4f43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99ff0fac6424a" /><Relationship Type="http://schemas.openxmlformats.org/officeDocument/2006/relationships/image" Target="/ppt/media/image4.png" Id="Rad2e38282a184447" /><Relationship Type="http://schemas.openxmlformats.org/officeDocument/2006/relationships/notesSlide" Target="/ppt/notesSlides/notesSlide3.xml" Id="Ra24c776e1fb843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14b2204d943cd" /><Relationship Type="http://schemas.openxmlformats.org/officeDocument/2006/relationships/image" Target="/ppt/media/image5.png" Id="R52a594bec95041c7" /><Relationship Type="http://schemas.openxmlformats.org/officeDocument/2006/relationships/notesSlide" Target="/ppt/notesSlides/notesSlide4.xml" Id="R5ead67eb8fd048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9b60444904b49" /><Relationship Type="http://schemas.openxmlformats.org/officeDocument/2006/relationships/image" Target="/ppt/media/image6.png" Id="R1c15833dab3444e0" /><Relationship Type="http://schemas.openxmlformats.org/officeDocument/2006/relationships/notesSlide" Target="/ppt/notesSlides/notesSlide5.xml" Id="Rf4f4261d0b614a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22290f766428b" /><Relationship Type="http://schemas.openxmlformats.org/officeDocument/2006/relationships/image" Target="/ppt/media/image7.png" Id="R7dbbb2bfb3e44631" /><Relationship Type="http://schemas.openxmlformats.org/officeDocument/2006/relationships/notesSlide" Target="/ppt/notesSlides/notesSlide6.xml" Id="R1d719c8de04f41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7d5e0be284054" /><Relationship Type="http://schemas.openxmlformats.org/officeDocument/2006/relationships/image" Target="/ppt/media/image8.png" Id="R56f4be90a394415e" /><Relationship Type="http://schemas.openxmlformats.org/officeDocument/2006/relationships/notesSlide" Target="/ppt/notesSlides/notesSlide7.xml" Id="R601c6cfc043549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1e27c45204587" /><Relationship Type="http://schemas.openxmlformats.org/officeDocument/2006/relationships/image" Target="/ppt/media/image9.png" Id="Rb170c1e84aea48b3" /><Relationship Type="http://schemas.openxmlformats.org/officeDocument/2006/relationships/notesSlide" Target="/ppt/notesSlides/notesSlide8.xml" Id="R6e7bf61b664342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b3fe4287b473c" /><Relationship Type="http://schemas.openxmlformats.org/officeDocument/2006/relationships/image" Target="/ppt/media/image10.png" Id="R6e12e664b17b4482" /><Relationship Type="http://schemas.openxmlformats.org/officeDocument/2006/relationships/image" Target="/ppt/media/image11.png" Id="R1658aac2800540d3" /><Relationship Type="http://schemas.openxmlformats.org/officeDocument/2006/relationships/notesSlide" Target="/ppt/notesSlides/notesSlide9.xml" Id="R780030536c5747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BEA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05a477ff1497d"/>
          <a:stretch xmlns:a="http://schemas.openxmlformats.org/drawingml/2006/main"/>
        </p:blipFill>
        <p:spPr>
          <a:xfrm xmlns:a="http://schemas.openxmlformats.org/drawingml/2006/main">
            <a:off x="6572250" y="1687462"/>
            <a:ext cx="4953000" cy="220672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E3FF5-2A26-4FAD-AE53-C0AE820A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Logisa + Opton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0F824-8AE2-4A58-A26B-E0BBE122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000000"/>
                </a:solidFill>
                <a:latin typeface="Fraunces"/>
                <a:ea typeface="Fraunces"/>
                <a:cs typeface="Fraunces"/>
              </a:defRPr>
            </a:pPr>
            <a:r>
              <a:rPr sz="4350" b="0" i="0">
                <a:solidFill>
                  <a:srgbClr val="000000"/>
                </a:solidFill>
                <a:latin typeface="Fraunces"/>
                <a:ea typeface="Fraunces"/>
                <a:cs typeface="Fraunces"/>
              </a:rPr>
              <a:t>Estructura HubSpot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50624-08D0-4DED-AB4C-0BFD64D8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Pipelines, propiedades clave y automatizaciones existentes para ordenar la conversación con el cliente.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A58B5-AC41-47B1-9948-481DFFC5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1432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65E18-1AC7-4296-A037-D93291E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Presentación de trabajo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345a510b14d28"/>
          <a:stretch xmlns:a="http://schemas.openxmlformats.org/drawingml/2006/main"/>
        </p:blipFill>
        <p:spPr>
          <a:xfrm xmlns:a="http://schemas.openxmlformats.org/drawingml/2006/main">
            <a:off x="9799258" y="438150"/>
            <a:ext cx="1223134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51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B67452-F7F8-4433-BB01-5766892F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PANORAMA GENERAL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4846C-0B9D-4C37-B69A-8C8BA98F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000000"/>
                </a:solidFill>
                <a:latin typeface="Fraunces"/>
                <a:ea typeface="Fraunces"/>
                <a:cs typeface="Fraunces"/>
              </a:defRPr>
            </a:pPr>
            <a:r>
              <a:rPr sz="2850" b="0" i="0">
                <a:solidFill>
                  <a:srgbClr val="000000"/>
                </a:solidFill>
                <a:latin typeface="Fraunces"/>
                <a:ea typeface="Fraunces"/>
                <a:cs typeface="Fraunces"/>
              </a:rPr>
              <a:t>Dos unidades, seis pipelines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F81B0-6D9C-4B81-B5E6-4481421F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La estructura separa Logisa y Opton para que cada unidad gestione oportunidades según su proceso comercial.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148CC-F9C1-4DF3-8BDB-1502DD75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953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848D0-BF1A-4670-A7A9-DCF0CEE4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FE8301"/>
                </a:solidFill>
                <a:latin typeface="Fraunces"/>
                <a:ea typeface="Fraunces"/>
                <a:cs typeface="Fraunces"/>
              </a:defRPr>
            </a:pPr>
            <a:r>
              <a:rPr sz="3300" b="0" i="0">
                <a:solidFill>
                  <a:srgbClr val="FE8301"/>
                </a:solidFill>
                <a:latin typeface="Fraunces"/>
                <a:ea typeface="Fraunces"/>
                <a:cs typeface="Fraunce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50A71-2BD2-4348-8093-7330235A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47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Logisa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6699D-A573-430A-A99E-4A80DDF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908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IM Proyectos, IM Adm. de Inf., IM Post Venta, Proyectos y Licitaciones.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7CA6B-FD6B-4FCC-98CC-9AD15BE2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953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09567-94E1-4A12-84AC-DC0FFB56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ED8BFA"/>
                </a:solidFill>
                <a:latin typeface="Fraunces"/>
                <a:ea typeface="Fraunces"/>
                <a:cs typeface="Fraunces"/>
              </a:defRPr>
            </a:pPr>
            <a:r>
              <a:rPr sz="3300" b="0" i="0">
                <a:solidFill>
                  <a:srgbClr val="ED8BFA"/>
                </a:solidFill>
                <a:latin typeface="Fraunces"/>
                <a:ea typeface="Fraunces"/>
                <a:cs typeface="Fraunce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0729A-E567-4D64-A098-AE05285A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47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Opton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6F7DA-7F77-4F93-9650-BBC03913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908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Pipeline comercial enfocado en AAP y UPS: producto, propuesta, negociación y cierre.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DCE72-9E9D-4BC7-B5FC-7D776F12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BEAE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4FA3E-7D7B-49B2-91BC-F637BF29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Lectura ejecutiva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2C76E-689B-4F9D-B783-1C40659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42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Logisa requiere más separación por tipo de servicio. Opton concentra el flujo en un solo pipeline, con propiedades que distinguen AAP y UPS.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5aecee8274eec"/>
          <a:stretch xmlns:a="http://schemas.openxmlformats.org/drawingml/2006/main"/>
        </p:blipFill>
        <p:spPr>
          <a:xfrm xmlns:a="http://schemas.openxmlformats.org/drawingml/2006/main">
            <a:off x="9799258" y="438150"/>
            <a:ext cx="1223134" cy="4000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2A507-B2FD-40C5-85C7-CD646EF9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Logisa + Opton | HubSpot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A3CDE-D440-4C01-8F8F-F2233AEE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0831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BEA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37DDA7-40A7-4760-A792-EE6F3D78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PIPELINES LOGISA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28BF7-CEAA-4D7B-87BF-CB2C14DF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000000"/>
                </a:solidFill>
                <a:latin typeface="Fraunces"/>
                <a:ea typeface="Fraunces"/>
                <a:cs typeface="Fraunces"/>
              </a:defRPr>
            </a:pPr>
            <a:r>
              <a:rPr sz="2850" b="0" i="0">
                <a:solidFill>
                  <a:srgbClr val="000000"/>
                </a:solidFill>
                <a:latin typeface="Fraunces"/>
                <a:ea typeface="Fraunces"/>
                <a:cs typeface="Fraunces"/>
              </a:rPr>
              <a:t>Diferencia entre los pipelines existentes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B9218-46C8-4F4B-BED6-9E1EAECC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Los pipelines comparten etapas comerciales, pero cambian por origen, tipo de operación y propiedades necesarias.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682CA-FF5C-4BD5-B71F-2CEDB594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382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D894D-5BA9-4877-8910-38B96965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19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IM - Proyectos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4FA2B-8894-4351-B3A7-6E01E5D1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193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Proyectos de infraestructura: alcance, desarrollo interno, propuesta y negociación.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542EC-C789-4491-9AA8-8D37BB6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9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E83A1-4172-4BAF-B881-C04B0F22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0382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D07B2-C8CE-42AA-ADB2-5163EC6B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IM - Servicios - Adm. de Inf.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DEBFC-802E-47B6-AF10-CE8156D2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432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Servicios administrados: proveedores, SLA, métricas, contratos y mesa de ayuda.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7181E-24F8-4F09-8784-BA3713A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9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DDA91-5A55-42D1-8D94-B1709F7C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10382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DDCDB-9E4A-4F39-8713-FDF51CB0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IM - Servicios - Post Venta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4BD82-CDFC-4656-ACBB-919EE53A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671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Servicios posteriores a venta: mantenimiento preventivo, correctivo y pólizas.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5B5E6-4577-4178-B8AC-E3587A27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9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F74D7-3DA0-4D19-B5BD-7F54216B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0382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8C98F-C3A6-4B08-BE91-7107B262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910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Proyectos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AB231-9B03-43A6-B403-63D8B9B8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910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Pipeline general de proyectos: tipo de contratación, fuente, tamaño, fechas y monto.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56C5A-D245-44A7-BC03-4D5AD97F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9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A790B-A967-4A80-8022-756BFF20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0382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AAA25-9F6B-411E-B1DF-3E60AEF5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149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Licitaciones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7CE70-3F44-442E-B4AD-C52F6678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149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Oportunidades públicas o privadas: junta de aclaraciones, apertura técnica/económica y fallo.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42BFF-624D-478D-949E-F2BF020A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9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2"/>
          </a:solidFill>
          <a:ln xmlns:a="http://schemas.openxmlformats.org/drawingml/2006/main" w="0">
            <a:solidFill>
              <a:srgbClr val="FFED02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e38282a184447"/>
          <a:stretch xmlns:a="http://schemas.openxmlformats.org/drawingml/2006/main"/>
        </p:blipFill>
        <p:spPr>
          <a:xfrm xmlns:a="http://schemas.openxmlformats.org/drawingml/2006/main">
            <a:off x="9799258" y="438150"/>
            <a:ext cx="1223134" cy="4000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17B3D-2BDF-4C1C-B31F-6F7E7DA4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Logisa + Opton | HubSpot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7CFD5A-928B-4372-9BF8-D07CF830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2032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B2BE8A-FE9E-4F5E-8B2E-EF792AF8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ETAPAS LOGISA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1C727-4D94-4C2C-8918-ABCD1F71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000000"/>
                </a:solidFill>
                <a:latin typeface="Fraunces"/>
                <a:ea typeface="Fraunces"/>
                <a:cs typeface="Fraunces"/>
              </a:defRPr>
            </a:pPr>
            <a:r>
              <a:rPr sz="2850" b="0" i="0">
                <a:solidFill>
                  <a:srgbClr val="000000"/>
                </a:solidFill>
                <a:latin typeface="Fraunces"/>
                <a:ea typeface="Fraunces"/>
                <a:cs typeface="Fraunces"/>
              </a:rPr>
              <a:t>Flujo principal y cierres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3CE86-7F72-4FD8-9E9F-F453B105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Las primeras etapas ordenan la operación; las etapas finales documentan el resultado de cada oportunidad.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4C7BD-70CC-4962-BDC0-C24BA289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Flujo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926AE-FA37-436D-A4F8-B9A19BD7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10312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061FC-BC00-4281-8D13-C907BDB3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9126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Carga / 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25828-65A2-4276-8D3C-E18F49C1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21031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CFFB1-8886-412A-9197-9B072577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2524125"/>
            <a:ext cx="210312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E792B-6ECB-42A2-93A2-D50657B8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609850"/>
            <a:ext cx="19126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Validar alcance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80826-D4F1-4935-AA51-45F0874F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2943225"/>
            <a:ext cx="21031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D78EA-0458-40E1-B16C-BEE101B6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2524125"/>
            <a:ext cx="210312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32097-FEC0-4055-B367-D8159A30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609850"/>
            <a:ext cx="19126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Desarrollo interno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8FF91-3541-45C7-BAB6-8B7C86E6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2943225"/>
            <a:ext cx="21031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1CDDE-7A30-493E-8C70-191ED7B8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524125"/>
            <a:ext cx="210312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A21D3-0FF3-434A-A219-85ACEBFC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2609850"/>
            <a:ext cx="19126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Propuesta preliminar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BE984-5D58-4CBF-916E-0A484645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943225"/>
            <a:ext cx="21031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8AFE3-563D-44BA-AB1F-4891ED14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524125"/>
            <a:ext cx="210312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86783-AB53-478B-87C5-D0EA8CF8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609850"/>
            <a:ext cx="19126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Negociación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188AB-8A5A-44B3-AB28-1CC28718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943225"/>
            <a:ext cx="21031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F5797-2B12-4A18-B30E-E4D6C4EA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Resultados y seguimiento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F1EC5-91C3-4F9A-9EC2-40271BB4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491343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2A13F-345D-44C2-955C-5AC892E0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86225"/>
            <a:ext cx="13008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Ganado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993E6-FADA-4C4C-A9C7-9389A68B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49134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2"/>
          </a:solidFill>
          <a:ln xmlns:a="http://schemas.openxmlformats.org/drawingml/2006/main" w="0">
            <a:solidFill>
              <a:srgbClr val="FFED0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0CCAD-14A2-4344-B4D9-C8220A77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493" y="4000500"/>
            <a:ext cx="1491343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A161E5-076F-45EE-B8A2-1203A054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743" y="4086225"/>
            <a:ext cx="13008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Perdido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486186-260D-48A3-9736-784486EE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493" y="4343400"/>
            <a:ext cx="149134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2"/>
          </a:solidFill>
          <a:ln xmlns:a="http://schemas.openxmlformats.org/drawingml/2006/main" w="0">
            <a:solidFill>
              <a:srgbClr val="FFED0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1FC14-3DE7-4C2B-A19E-161C6C38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036" y="4000500"/>
            <a:ext cx="1491343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CD7634-598E-48CC-A02E-9FF3022E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286" y="4086225"/>
            <a:ext cx="13008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Cancelado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DFDF64-C7D9-422C-858C-3783A289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036" y="4343400"/>
            <a:ext cx="149134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2"/>
          </a:solidFill>
          <a:ln xmlns:a="http://schemas.openxmlformats.org/drawingml/2006/main" w="0">
            <a:solidFill>
              <a:srgbClr val="FFED0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A776B1-7B32-4EBB-A918-D6FC57D5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579" y="4000500"/>
            <a:ext cx="1491343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9F0780-99FD-467F-860E-AD68EFD2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829" y="4086225"/>
            <a:ext cx="13008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No fit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1369C2-64D6-481B-BAC8-E31C7D75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579" y="4343400"/>
            <a:ext cx="149134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2"/>
          </a:solidFill>
          <a:ln xmlns:a="http://schemas.openxmlformats.org/drawingml/2006/main" w="0">
            <a:solidFill>
              <a:srgbClr val="FFED0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35F78F-B309-4F38-961D-701F1C93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121" y="4000500"/>
            <a:ext cx="1491343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785424-C947-41A9-BFA0-F138B818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371" y="4086225"/>
            <a:ext cx="13008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No participado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123955-E016-40F5-A4EF-A92FDFF9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121" y="4343400"/>
            <a:ext cx="149134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2"/>
          </a:solidFill>
          <a:ln xmlns:a="http://schemas.openxmlformats.org/drawingml/2006/main" w="0">
            <a:solidFill>
              <a:srgbClr val="FFED0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9A910D-85A1-4FD9-AA63-90705845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664" y="4000500"/>
            <a:ext cx="1491343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BEAE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B59238-A490-4F00-8C5D-47D9C8C6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914" y="4086225"/>
            <a:ext cx="13008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Estudio de Mercado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C57D41-47EA-489A-A73C-0FDAA508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207" y="4000500"/>
            <a:ext cx="1491343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BEAE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627300-E1AD-41EA-BB20-365E2236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3457" y="4086225"/>
            <a:ext cx="13008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Icebox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DAC1C4-5C0D-4952-8846-A7C3E7D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10287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BEAE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5FC7A2-E90B-4A56-B56B-E1D8B5D8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Nota: Licitaciones usa etapas propias al inicio: Carga de datos manuales, Junta de Aclaraciones y Apertura Técnica y Económica.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594bec95041c7"/>
          <a:stretch xmlns:a="http://schemas.openxmlformats.org/drawingml/2006/main"/>
        </p:blipFill>
        <p:spPr>
          <a:xfrm xmlns:a="http://schemas.openxmlformats.org/drawingml/2006/main">
            <a:off x="9799258" y="438150"/>
            <a:ext cx="1223134" cy="4000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DE533A-72B9-4E8B-BFAC-91E99E76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Logisa + Opton | HubSpot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D70C23-2A73-4E3F-8013-B3F43E68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6330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BEA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1F819B-C19E-4043-8AF9-842D7B47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PIPELINE OPTON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2B065-AC2C-4DC5-AC5D-9E11E907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000000"/>
                </a:solidFill>
                <a:latin typeface="Fraunces"/>
                <a:ea typeface="Fraunces"/>
                <a:cs typeface="Fraunces"/>
              </a:defRPr>
            </a:pPr>
            <a:r>
              <a:rPr sz="2850" b="0" i="0">
                <a:solidFill>
                  <a:srgbClr val="000000"/>
                </a:solidFill>
                <a:latin typeface="Fraunces"/>
                <a:ea typeface="Fraunces"/>
                <a:cs typeface="Fraunces"/>
              </a:rPr>
              <a:t>Un solo pipeline para AAP y 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53871-D968-4199-9825-899023BB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Opton concentra la operación en un flujo corto y usa propiedades para separar necesidades de producto.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778D6-6252-4B1C-8C68-7F7D60CA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14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3B0E6-D3D5-4976-9EA4-F113301E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Validación del producto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DC21C-FAAE-4731-A928-4AE3CB2D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577F8-8292-414F-B763-F8A943E3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66950"/>
            <a:ext cx="114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147DB-66F5-4865-88BB-652A707B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526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Propuesta técnica y económica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F6057-B874-4739-9C62-4E2B31C2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098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F188C-BA2E-452A-B897-83C9E1FE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66950"/>
            <a:ext cx="114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80198-792E-4B32-B9A2-5CF5D5E6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526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Negociación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43E61-90C0-44B0-AB68-9EF31A47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098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90630-3D97-4EFD-B89F-F56FC1AE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114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0C35E-B8AC-4DD3-A52B-44928B30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526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Ganado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D82C9-E684-4CBC-B363-6C6D923B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43B75-A781-4351-8FAD-2EBD27C9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66950"/>
            <a:ext cx="114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EAED7-8D77-4CC9-B3E8-4B72123C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526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Perdido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743A4-6725-44F3-972C-8A9DCC7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098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0BCF0-83B7-46A9-9895-747A3B30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114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BEAE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AD72F-F282-4039-84DA-ABE59420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526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Cancelado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2507DF-21EC-47AA-827D-B4C962A3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114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BEAE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CA6B5-5A3D-4FD5-B4D8-F7C2599D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526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No fit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4FF587-0FD7-40D2-B1DD-1B59514A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66950"/>
            <a:ext cx="114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BEAE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FC149F-35CB-48FB-B275-45BCAB7E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526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Estudio de Mercado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DAC798-8582-4581-BCC5-2D8C9E60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66950"/>
            <a:ext cx="114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BEAE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9ABE7-00CA-47FB-B733-0985A549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526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82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Icebox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6FCA14-96BD-4C81-BA5F-8A555745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857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D94988-941D-4E64-BCC9-C4682005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E8301"/>
                </a:solidFill>
                <a:latin typeface="Fraunces"/>
                <a:ea typeface="Fraunces"/>
                <a:cs typeface="Fraunces"/>
              </a:defRPr>
            </a:pPr>
            <a:r>
              <a:rPr sz="2250" b="0" i="0">
                <a:solidFill>
                  <a:srgbClr val="FE8301"/>
                </a:solidFill>
                <a:latin typeface="Fraunces"/>
                <a:ea typeface="Fraunces"/>
                <a:cs typeface="Fraunces"/>
              </a:rPr>
              <a:t>AAP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8F4A34-AEC5-44EA-973C-D8231807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5F019F-39BE-4BF8-84DF-3B4470C5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910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Aplicación y tipo de equipo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EDCC1C-B5AA-423E-B25E-5BEB9BBE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55679C-F050-46AB-AC31-56A60981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2915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Capacidad TR y medio de refrigeración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3FB6CE-26D2-4E2E-9E24-05E2EC1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351F74-D833-43AC-9EBC-10A67C34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Voltaje, compresor e inyección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24D0F6-8883-464A-8404-5B36ED0D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857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5678AD-E94E-4CCB-94D6-DA29410E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ED8BFA"/>
                </a:solidFill>
                <a:latin typeface="Fraunces"/>
                <a:ea typeface="Fraunces"/>
                <a:cs typeface="Fraunces"/>
              </a:defRPr>
            </a:pPr>
            <a:r>
              <a:rPr sz="2250" b="0" i="0">
                <a:solidFill>
                  <a:srgbClr val="ED8BFA"/>
                </a:solidFill>
                <a:latin typeface="Fraunces"/>
                <a:ea typeface="Fraunces"/>
                <a:cs typeface="Fraunces"/>
              </a:rPr>
              <a:t>UPS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DAF09F-0AE4-48E4-BCCE-852DFADC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7EF261-25DF-4E14-AE68-47ECB510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2910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Aplicación del UPS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3CAA61-195E-4EB1-B800-8774699F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DF4F0E-CE56-4F2F-98BB-A1241FDD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2915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Capacidad, fases, factor de forma y voltaje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29CB7F-61CB-41E9-A18F-87C0442F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05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7DB0C3-3509-4BFE-BDBA-1BA89291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2920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Tiempo de respaldo y comentarios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5833dab3444e0"/>
          <a:stretch xmlns:a="http://schemas.openxmlformats.org/drawingml/2006/main"/>
        </p:blipFill>
        <p:spPr>
          <a:xfrm xmlns:a="http://schemas.openxmlformats.org/drawingml/2006/main">
            <a:off x="9799258" y="438150"/>
            <a:ext cx="1223134" cy="4000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DB715B-DA64-4A3C-BAE6-61A71629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Logisa + Opton | HubSpot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B2EB45-3E9B-4EA8-8512-1FE4B82A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2244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7C4BB3-4861-4611-9A33-323B609B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PROPIEDADES LOGISA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2E351-C0E0-44F2-BD77-4CD933F6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000000"/>
                </a:solidFill>
                <a:latin typeface="Fraunces"/>
                <a:ea typeface="Fraunces"/>
                <a:cs typeface="Fraunces"/>
              </a:defRPr>
            </a:pPr>
            <a:r>
              <a:rPr sz="2850" b="0" i="0">
                <a:solidFill>
                  <a:srgbClr val="000000"/>
                </a:solidFill>
                <a:latin typeface="Fraunces"/>
                <a:ea typeface="Fraunces"/>
                <a:cs typeface="Fraunces"/>
              </a:rPr>
              <a:t>Información clave a capturar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E1256-78BF-4C7D-AE8D-290F62A3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Las propiedades ayudan a clasificar la necesidad, validar alcance y preparar la operación comercial.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D979E-68A9-440E-B779-63BFCF70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BEAE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010B8-0275-4A2A-B3DB-778AC845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4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Datos generales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17DCF-F3EE-4325-A7E9-76298D35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Correo, nombre, apellido, teléfono y empresa</a:t>
            </a:r>
          </a:p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Unidad de negocio</a:t>
            </a:r>
          </a:p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Sector y ubicación del proyecto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DA277-A67C-4D52-A7E6-CE069D6A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43125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4E262-B7FB-4208-A660-8DEBB89F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145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4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Proyectos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E0BED-5434-4B43-817C-D6E6A2B8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574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Tipo de proyecto</a:t>
            </a:r>
          </a:p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Etapa del proyecto</a:t>
            </a:r>
          </a:p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Descripción breve y documentación adjunta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8DF70-66B7-493C-9B86-C3B7F90A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43125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AAF2E-0B97-4592-A3FB-08AAF976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145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4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Adm. de Inf.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08D0D-1417-4453-B54B-2A43E858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574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Gestión de proveedores</a:t>
            </a:r>
          </a:p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SLA, contratos, métricas y reportes</a:t>
            </a:r>
          </a:p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Mesa de ayuda y descripción de equipos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21079-1085-4BB0-8AE4-DDB45885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02875-8B29-4BD9-A60B-50DD8D9F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338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4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Post Venta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03780-E715-42A3-B6E8-61B931BD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Tipo de servicio</a:t>
            </a:r>
          </a:p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Un sitio o sitios múltiples</a:t>
            </a:r>
          </a:p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Descripción de equipos a atender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889AE-8507-4423-989F-BE932557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62375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26568-5123-4690-9ECB-E88367D9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338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4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Gestión comercial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107C1-8FDC-47DF-8962-D2686208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7672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Categoría y tamaño de proyecto</a:t>
            </a:r>
          </a:p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Tipo de Data Center</a:t>
            </a:r>
          </a:p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Monto, moneda, descuentos, fechas y forma de pago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1CFF1-B39D-4B0E-87B6-28B4055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62375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6ABE8-8737-4525-8CC1-71EA21E5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338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425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Cierres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EA185-8EDB-4617-A2F9-DCFE293D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7672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Motivos de perdido, cancelado y no fit</a:t>
            </a:r>
          </a:p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Tiempo de compra posterior</a:t>
            </a:r>
          </a:p>
          <a:p xmlns:a="http://schemas.openxmlformats.org/drawingml/2006/main">
            <a:pPr algn="l">
              <a:defRPr sz="1013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013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Icebox y estudio de mercado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bb2bfb3e44631"/>
          <a:stretch xmlns:a="http://schemas.openxmlformats.org/drawingml/2006/main"/>
        </p:blipFill>
        <p:spPr>
          <a:xfrm xmlns:a="http://schemas.openxmlformats.org/drawingml/2006/main">
            <a:off x="9799258" y="438150"/>
            <a:ext cx="1223134" cy="4000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FD586F-0A11-447A-98A0-62E7AC14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Logisa + Opton | HubSpot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BB8C76-59DD-4BBA-BDF9-38A0FB83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8844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BEA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A65BD-EEE8-4449-A554-C8F5BC7D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PROPIEDADES OPTON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A93F3-43CF-4B02-9512-45E57B49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000000"/>
                </a:solidFill>
                <a:latin typeface="Fraunces"/>
                <a:ea typeface="Fraunces"/>
                <a:cs typeface="Fraunces"/>
              </a:defRPr>
            </a:pPr>
            <a:r>
              <a:rPr sz="2850" b="0" i="0">
                <a:solidFill>
                  <a:srgbClr val="000000"/>
                </a:solidFill>
                <a:latin typeface="Fraunces"/>
                <a:ea typeface="Fraunces"/>
                <a:cs typeface="Fraunces"/>
              </a:rPr>
              <a:t>AAP y UPS en el mismo flujo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CB170-1B5E-476E-A3BC-687E3906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Las propiedades clave separan el tipo de solución y dan base para reportes comerciales.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C3EA4-C784-4E23-93AD-916C57BC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7625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07761-29F2-48EF-A5FE-42C296F3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Fraunces"/>
                <a:ea typeface="Fraunces"/>
                <a:cs typeface="Fraunces"/>
              </a:defRPr>
            </a:pPr>
            <a:r>
              <a:rPr sz="1800" b="0" i="0">
                <a:solidFill>
                  <a:srgbClr val="000000"/>
                </a:solidFill>
                <a:latin typeface="Fraunces"/>
                <a:ea typeface="Fraunces"/>
                <a:cs typeface="Fraunces"/>
              </a:rPr>
              <a:t>Entrada de oportunidad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17B5F-2CFE-44E7-954B-7CBB1353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9E36F-3552-4F2A-8ED2-407AB794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95625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Segmento Opton: AAP o UPS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C5699-91F4-48B0-A190-A63C9FEF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98931-E824-4AC7-A79F-1ECAC1F3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19475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Tipo de aplicación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B0624-2E87-440E-82FE-A8C7A740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3B7A1-FB4F-4A24-A700-37842AB6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43325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Capacidad requerida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5A16A-FAA4-4F54-8888-5AB8A3B3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54DD5-7CA0-4C7D-8389-9FCEAFDD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67175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Voltaje y configuración técnica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EE515-FF4C-49E5-BB31-56F6E40A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7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9755E-CF2F-412A-80B8-E4296F9F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91025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Cita o solicitud de cotización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F08D0-CBC9-46AC-B16E-658C58C5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7625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95BA5-A39C-4257-AD22-ABC06057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Fraunces"/>
                <a:ea typeface="Fraunces"/>
                <a:cs typeface="Fraunces"/>
              </a:defRPr>
            </a:pPr>
            <a:r>
              <a:rPr sz="1800" b="0" i="0">
                <a:solidFill>
                  <a:srgbClr val="000000"/>
                </a:solidFill>
                <a:latin typeface="Fraunces"/>
                <a:ea typeface="Fraunces"/>
                <a:cs typeface="Fraunces"/>
              </a:rPr>
              <a:t>Seguimiento y cierre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E2B55-0B42-4745-AFB4-DCCBEF54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B7CB1-BFD7-40EA-9CEE-E1D8A84C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95625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Monto y moneda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CACBC-9103-49E3-B36B-E7E26A3F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95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60CC9-3774-4BF9-8FC8-06723D59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19475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Fecha de cierre / entrega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E31C14-5A35-4B39-8385-8339B5A1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43AD2-FF3C-402D-B94D-54DE471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43325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Garantía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75DA56-B707-45C5-9277-25935BE7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64075-34DB-473E-BBA5-7EBD8146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67175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Apoyo de arranque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812964-316B-41D9-9427-C3220DB3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67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D8DDD-A893-4B2F-9A5B-F247959A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91025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Motivos de perdido, cancelado o no fit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EFAB2F-2768-454D-A3D3-84018940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02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055D89-EC29-46CF-BF75-4B6AE91C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625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Reportes esperados: oportunidades por segmento, producto, aplicación, asesor, etapa, monto y motivo de descarte.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4be90a394415e"/>
          <a:stretch xmlns:a="http://schemas.openxmlformats.org/drawingml/2006/main"/>
        </p:blipFill>
        <p:spPr>
          <a:xfrm xmlns:a="http://schemas.openxmlformats.org/drawingml/2006/main">
            <a:off x="9799258" y="438150"/>
            <a:ext cx="1223134" cy="4000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8C2FCA-D0C4-4196-BEFD-BBC28541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Logisa + Opton | HubSpot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02B3B4-99D7-4A96-A440-6934BED6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903974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6A8D54-677C-4C8F-BBD8-DFB22067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BEAE8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EBEAE8"/>
                </a:solidFill>
                <a:latin typeface="Inter"/>
                <a:ea typeface="Inter"/>
                <a:cs typeface="Inter"/>
              </a:rPr>
              <a:t>AUTOMATIZACIONES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8D9B7-9DEC-4679-86F8-E781DA41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FFFFFF"/>
                </a:solidFill>
                <a:latin typeface="Fraunces"/>
                <a:ea typeface="Fraunces"/>
                <a:cs typeface="Fraunces"/>
              </a:defRPr>
            </a:pPr>
            <a:r>
              <a:rPr sz="3750" b="0" i="0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Automatizaciones existentes importantes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0277A-1E01-4C19-8F5B-B4FAB394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F99DC-45E7-47D5-88CB-818FDE49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00000"/>
                </a:solidFill>
                <a:latin typeface="Fraunces"/>
                <a:ea typeface="Fraunces"/>
                <a:cs typeface="Fraunces"/>
              </a:defRPr>
            </a:pPr>
            <a:r>
              <a:rPr sz="1950" b="0" i="0">
                <a:solidFill>
                  <a:srgbClr val="000000"/>
                </a:solidFill>
                <a:latin typeface="Fraunces"/>
                <a:ea typeface="Fraunces"/>
                <a:cs typeface="Fraunces"/>
              </a:rPr>
              <a:t>Lo que sí existe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790A8-7128-43ED-886F-B5824E81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24C9B-48FB-4411-9CBC-D126AC71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Automatizaciones de homologación de 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31731-F8AE-4EDB-A37E-333DAB4C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EAB48-6036-468F-8642-0628790C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Normalización para mantener campos consistentes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C1C4C-70CB-4A6D-AABA-3C7D5DF8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BB0BD-33BD-492F-BE7B-7433D7FA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8150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Apoyo a la calidad de información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3A3B5-228C-4118-A736-0941FBF3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BEAE8"/>
          </a:solidFill>
          <a:ln xmlns:a="http://schemas.openxmlformats.org/drawingml/2006/main" w="13335">
            <a:solidFill>
              <a:srgbClr val="EBEA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E63FA-A01E-436E-8774-B1D289AD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00000"/>
                </a:solidFill>
                <a:latin typeface="Fraunces"/>
                <a:ea typeface="Fraunces"/>
                <a:cs typeface="Fraunces"/>
              </a:defRPr>
            </a:pPr>
            <a:r>
              <a:rPr sz="1950" b="0" i="0">
                <a:solidFill>
                  <a:srgbClr val="000000"/>
                </a:solidFill>
                <a:latin typeface="Fraunces"/>
                <a:ea typeface="Fraunces"/>
                <a:cs typeface="Fraunces"/>
              </a:rPr>
              <a:t>Lo que no existe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F634A-BB37-4E96-A1B0-5A92F73C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63FE8-612D-4FAE-962E-DE5F4D67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8140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No hay automatizaciones de notificación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75ECC-453B-4936-821E-EA5509BE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E1927-584F-4F2C-9F31-C63765CE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8145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No hay automatizaciones por cambio de etapa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6B6CD-8DB4-4F12-9228-F2163F7A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FA"/>
          </a:solidFill>
          <a:ln xmlns:a="http://schemas.openxmlformats.org/drawingml/2006/main" w="0">
            <a:solidFill>
              <a:srgbClr val="ED8B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AB294-2AA7-46D6-A568-B556ABF5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8150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No hay alertas operativas asociadas al avance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0c1e84aea48b3"/>
          <a:stretch xmlns:a="http://schemas.openxmlformats.org/drawingml/2006/main"/>
        </p:blipFill>
        <p:spPr>
          <a:xfrm xmlns:a="http://schemas.openxmlformats.org/drawingml/2006/main">
            <a:off x="9799767" y="438150"/>
            <a:ext cx="1222116" cy="4000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B747C-966C-44D8-93C5-E50AC94A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Logisa + Opton | HubSpot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4C23A-E334-4C09-B1FE-A434F34A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57887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2e664b17b4482"/>
          <a:stretch xmlns:a="http://schemas.openxmlformats.org/drawingml/2006/main"/>
        </p:blipFill>
        <p:spPr>
          <a:xfrm xmlns:a="http://schemas.openxmlformats.org/drawingml/2006/main">
            <a:off x="7429500" y="1905000"/>
            <a:ext cx="3048000" cy="2286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34C40-7A22-4FA9-B238-46E6F40F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CONCLUSIÓN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1D56D-AD39-4AA1-9AF7-B01D23C0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000000"/>
                </a:solidFill>
                <a:latin typeface="Fraunces"/>
                <a:ea typeface="Fraunces"/>
                <a:cs typeface="Fraunces"/>
              </a:defRPr>
            </a:pPr>
            <a:r>
              <a:rPr sz="3600" b="0" i="0">
                <a:solidFill>
                  <a:srgbClr val="000000"/>
                </a:solidFill>
                <a:latin typeface="Fraunces"/>
                <a:ea typeface="Fraunces"/>
                <a:cs typeface="Fraunces"/>
              </a:rPr>
              <a:t>Puntos para alinear con el 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D56D1-B7D6-41FB-9797-43A95167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62780-1D54-44C5-93DC-B3EA6D82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14625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Confirmar que los seis pipelines siguen vigentes.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66333-0573-4FAA-9947-D20C0E9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FECE7-F86F-473B-9EF2-2D2D24B0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71825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Validar qué propiedades son obligatorias por etapa.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21F54-79ED-4AB9-956D-0ACD6C7D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05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55FCC-5F13-43FF-994E-C28026E5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29025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Acordar qué reportes necesita cada unidad.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B6F64-E839-41AD-BA75-D44C1602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8301"/>
          </a:solidFill>
          <a:ln xmlns:a="http://schemas.openxmlformats.org/drawingml/2006/main" w="0">
            <a:solidFill>
              <a:srgbClr val="FE830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4882A-9ABD-4606-8459-E31C8AC4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86225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000000"/>
                </a:solidFill>
                <a:latin typeface="Inter"/>
                <a:ea typeface="Inter"/>
                <a:cs typeface="Inter"/>
              </a:rPr>
              <a:t>Definir si se crearán automatizaciones de notificación o cambio de etapa.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8aac2800540d3"/>
          <a:stretch xmlns:a="http://schemas.openxmlformats.org/drawingml/2006/main"/>
        </p:blipFill>
        <p:spPr>
          <a:xfrm xmlns:a="http://schemas.openxmlformats.org/drawingml/2006/main">
            <a:off x="9799258" y="438150"/>
            <a:ext cx="1223134" cy="400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6FBAA-EE06-4D5E-B942-55747BE0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Logisa + Opton | HubSpot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FCC0A-2ECB-45FC-80FD-3B6376C8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7555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575555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42715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2026-06-18T16:31:16.4310000Z</dcterms:created>
  <dcterms:modified xsi:type="dcterms:W3CDTF">2026-06-18T16:31:16.4320000Z</dcterms:modified>
</coreProperties>
</file>